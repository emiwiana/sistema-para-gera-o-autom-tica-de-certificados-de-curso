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2" r:id="rId4"/>
    <p:sldId id="276" r:id="rId5"/>
    <p:sldId id="266" r:id="rId6"/>
    <p:sldId id="273" r:id="rId7"/>
    <p:sldId id="264" r:id="rId8"/>
    <p:sldId id="270" r:id="rId9"/>
    <p:sldId id="271" r:id="rId10"/>
    <p:sldId id="275" r:id="rId11"/>
    <p:sldId id="265" r:id="rId12"/>
    <p:sldId id="278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CFF6"/>
    <a:srgbClr val="3D353F"/>
    <a:srgbClr val="60ABCC"/>
    <a:srgbClr val="7686E8"/>
    <a:srgbClr val="CADCF6"/>
    <a:srgbClr val="7030A0"/>
    <a:srgbClr val="00EE1C"/>
    <a:srgbClr val="E51FB6"/>
    <a:srgbClr val="20FF09"/>
    <a:srgbClr val="FF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E59018-4C30-3A68-B844-A501DA6D82C9}" v="260" dt="2026-05-16T15:19:23.747"/>
    <p1510:client id="{78B87DC8-A460-49C9-BAFC-9113621A807C}" v="1406" dt="2026-05-16T15:05:58.5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Estilo Médio 2 - Destaqu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Estilo Médio 2 - Destaqu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Estilo Médio 4 - Destaqu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55C017-EC0D-4A9B-83C6-DE4BEF95FED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E25B48-3D0F-444F-A1F0-F74F7255EFFA}" type="pres">
      <dgm:prSet presAssocID="{0855C017-EC0D-4A9B-83C6-DE4BEF95FED7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6F37811B-FCD7-4EA8-B0C4-5EA5046C7977}" type="presOf" srcId="{0855C017-EC0D-4A9B-83C6-DE4BEF95FED7}" destId="{67E25B48-3D0F-444F-A1F0-F74F7255EFF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110C0-EB98-4588-8EFE-A709E78A5183}" type="datetimeFigureOut">
              <a:rPr lang="pt-PT" smtClean="0"/>
              <a:t>16/05/2026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99530-E1B9-43ED-9C25-0B773D1F8AB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736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Adicionar ilustração alusiva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99530-E1B9-43ED-9C25-0B773D1F8AB2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04119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Transformar em diagrama de implementação (arquitetura + referência a tecnologias) e diagrama de componentes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99530-E1B9-43ED-9C25-0B773D1F8AB2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2744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Trocar servidor e utilizador. Tirar armazenar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99530-E1B9-43ED-9C25-0B773D1F8AB2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875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Transformar em diagrama de transição de estados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99530-E1B9-43ED-9C25-0B773D1F8AB2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7943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Ajustar gráfico. Destacar coluna da semana atual, remover armazenar certificados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99530-E1B9-43ED-9C25-0B773D1F8AB2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86763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50883-7566-9CB7-E3CA-79CF5C18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D384488-A642-2955-DB82-9F142BAF0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84B598C-1DE6-D51E-D92E-EA7CAE7D0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Ajustar gráfico. Destacar coluna da semana atual, remover armazenar certificados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7BF7AAA-D1DB-F59B-3019-D1FA31D9E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99530-E1B9-43ED-9C25-0B773D1F8AB2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51364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F18F6-7548-B473-8BEA-036FC50B1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90B2F9-9CC6-DC4F-E055-74FFEF22B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69C247D-DFB3-9AF3-F15B-6E6E4FB8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0223-04C6-4648-8B82-FE4EE95F9224}" type="datetime1">
              <a:rPr lang="pt-PT" smtClean="0"/>
              <a:t>16/05/2026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BF2E227-EC5E-3C21-777F-02C5E76B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172100-2D23-4A4A-4AE2-E1FCF7E8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613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71875-694F-CAF1-F57B-29B97E130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2E8131A-7836-AF6F-F2F9-2C94D2C0A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0C67A77-D29A-CC2F-8BF1-D32EA6F78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DC7B-1B03-4F22-91F8-1A80F9095060}" type="datetime1">
              <a:rPr lang="pt-PT" smtClean="0"/>
              <a:t>16/05/2026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8C41F81-447B-543E-CEFC-B84C55A7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14977A3-4C07-0C7F-A678-D996B151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92467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573E0-3E9C-5F5A-05BA-88E1AE031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B88D9BF-91BE-D0CE-5241-9984AE68A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7B145EB-640A-6DE4-2098-1113B6D13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E0D03-411F-4F03-869A-FCEABF2A3AC0}" type="datetime1">
              <a:rPr lang="pt-PT" smtClean="0"/>
              <a:t>16/05/2026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F79F09C-E0EC-3B47-E32A-F3C0BF99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2701A61-9D5F-35E1-6BBE-9DF14D4D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5630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AB9E0-350A-84DD-C8DB-1D86BD6DC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C5FB652-5FD7-E8B9-418E-099BCF4544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EFE6590-8C09-5CEF-6FBF-E30589BF3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B4114C2-ACDD-8D03-F05E-7D93127F4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8A796-2B3B-4154-956B-7E2BFEF113B7}" type="datetime1">
              <a:rPr lang="pt-PT" smtClean="0"/>
              <a:t>16/05/2026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34A7934-9706-CDD2-3D5B-AA8B82294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678762F-01F6-7DFF-505A-67CD686D5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5998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E7C7B-E2D9-3237-6B69-659B01644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D56D7C6-0242-65B0-C186-7587FF28D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556A255-8B40-82D7-DB38-17247E282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A9E1A38E-1155-FDB6-1866-A4CE37E2E5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FD44F175-C8AB-E30A-FFF9-251FE8C4D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4414F83F-07D4-EF61-7315-DA7F9F564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0233-2A1B-437C-B2C5-35E264EC28E0}" type="datetime1">
              <a:rPr lang="pt-PT" smtClean="0"/>
              <a:t>16/05/2026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F288D91-F8E1-7CBC-19C3-3D5821A6B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AAAC601C-A735-413D-7D0D-E6F57BB0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1977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BEBEA-B348-EC09-3907-741C29B5B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07BBDCB-C254-D86A-2EA3-8D877C48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62B5-0399-4741-86BA-330F5704A086}" type="datetime1">
              <a:rPr lang="pt-PT" smtClean="0"/>
              <a:t>16/05/2026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B95DC88-F410-F6CF-0BF4-A4B15C246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4E5BE865-D0EF-0B71-B1FB-9A518B0DE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0632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D0BB8AA1-A3F4-2D22-3D53-4649F816D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23D6-9A34-4A5B-8B65-58A87EE02A6D}" type="datetime1">
              <a:rPr lang="pt-PT" smtClean="0"/>
              <a:t>16/05/2026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4FC0B6B8-C097-F0CE-D3CF-394153F0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CE5BC55-0ABF-E607-5063-72C3B552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4629"/>
            <a:ext cx="443669" cy="365125"/>
          </a:xfrm>
        </p:spPr>
        <p:txBody>
          <a:bodyPr/>
          <a:lstStyle/>
          <a:p>
            <a:fld id="{AEFA9852-3563-417D-95EE-A70EE092CCC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5672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6D5E5-1D68-4DD7-A5BD-951CB3BC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33AA870-5823-60A2-DFE5-B6A46AB5C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165D0BD-69CA-D6B2-B752-9FF5CBF56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0C563B1-FBC1-CBE2-AA6F-B97A2A122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BAD0-E15E-4B85-8A8D-82CFF1BA7D0C}" type="datetime1">
              <a:rPr lang="pt-PT" smtClean="0"/>
              <a:t>16/05/2026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43E2920-4709-2D17-7EAB-82871BCE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0C151FE-3CF9-B686-ED96-EA2035CD8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87671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46C62-5ABB-029D-AB38-B78F4D5B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012C4A58-D809-0337-5C87-9606D5117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1DECDFB-B70C-E6D6-1A81-2716D4714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109819B-C0B7-5BDE-F1FD-A189D6442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3F5D-7EC5-4392-AA79-EFE9C6FDF896}" type="datetime1">
              <a:rPr lang="pt-PT" smtClean="0"/>
              <a:t>16/05/2026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0F73832-2069-1C97-36D5-B9785A2E8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8BA10C6-43EA-F222-375F-66B1E2961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75657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62EFB-4478-F337-4DF3-5A18F7C6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3AE6BD3-98E2-5EAB-134C-67BD08457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72D549D-8041-C6A6-2EB1-3FA90DA9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EC784-ED01-4063-BDE1-4E24053A1C1C}" type="datetime1">
              <a:rPr lang="pt-PT" smtClean="0"/>
              <a:t>16/05/2026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395C24B-7FC6-10FF-FC8C-0EFDDC393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6ACDC29-C0B9-43F7-A3C8-5CADBEC3C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2665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5A5407-D197-E452-5FD3-0AA7D2293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73260E0-D21B-21B1-BF34-F84AFF2E2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63C8420-B087-2E92-C5CA-A9E7B4B07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4153-2AC7-4951-8099-F118CEDEAA5F}" type="datetime1">
              <a:rPr lang="pt-PT" smtClean="0"/>
              <a:t>16/05/2026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5428DA4-7D8F-457F-1EF2-532065DD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14A45DA-36E6-0C44-D7FE-5EE2D906E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9852-3563-417D-95EE-A70EE092CCC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08430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7FB1DA87-3216-1B3F-1BB3-9ADBF7709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BC3914D-1B6E-FD32-F423-913D01E4B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1129C30-E7E9-7FF7-538D-A27879B263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E2C288-1AC9-4286-A8B1-2D4D43DD2C61}" type="datetime1">
              <a:rPr lang="pt-PT" smtClean="0"/>
              <a:t>16/05/2026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813CF21-6F62-9252-7494-32A200907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17136AA-77AA-FDA4-9261-942DFE637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A9852-3563-417D-95EE-A70EE092CCC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8319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7.jpeg"/><Relationship Id="rId4" Type="http://schemas.openxmlformats.org/officeDocument/2006/relationships/diagramLayout" Target="../diagrams/layout1.xml"/><Relationship Id="rId9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CF2CC-E920-9043-9BFC-F62F6E664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865" y="234336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pt-PT" b="1" dirty="0">
                <a:solidFill>
                  <a:schemeClr val="bg1"/>
                </a:solidFill>
                <a:latin typeface="Aptos Black" panose="020F0502020204030204" pitchFamily="34" charset="0"/>
              </a:rPr>
              <a:t>Sistema para geração automática de Certificados de Curso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6A9D4D-1F42-E109-32CE-3DE72BF33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865" y="4854994"/>
            <a:ext cx="2733153" cy="99478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PT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  <a:cs typeface="Arial"/>
              </a:rPr>
              <a:t>Nilo Duarte 48155</a:t>
            </a:r>
          </a:p>
          <a:p>
            <a:pPr algn="l">
              <a:lnSpc>
                <a:spcPct val="100000"/>
              </a:lnSpc>
            </a:pPr>
            <a:r>
              <a:rPr lang="pt-PT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  <a:cs typeface="Arial"/>
              </a:rPr>
              <a:t>Emiliana Prates 51635</a:t>
            </a:r>
          </a:p>
          <a:p>
            <a:pPr algn="l">
              <a:lnSpc>
                <a:spcPct val="100000"/>
              </a:lnSpc>
            </a:pPr>
            <a:r>
              <a:rPr lang="pt-PT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/>
                <a:cs typeface="Arial"/>
              </a:rPr>
              <a:t>Orientador: André Mendes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12D768B-B4A9-13EB-9EE1-93039828C6A9}"/>
              </a:ext>
            </a:extLst>
          </p:cNvPr>
          <p:cNvSpPr txBox="1"/>
          <p:nvPr/>
        </p:nvSpPr>
        <p:spPr>
          <a:xfrm>
            <a:off x="769273" y="2535750"/>
            <a:ext cx="303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b="1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b="1" u="sng" dirty="0">
                <a:solidFill>
                  <a:srgbClr val="FFFF0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Projeto nº41 </a:t>
            </a:r>
            <a:endParaRPr lang="pt-PT" sz="1600" b="1" u="sng" dirty="0">
              <a:solidFill>
                <a:srgbClr val="FFFF0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211C282-677E-D3F0-8745-ACC9DDE626B9}"/>
              </a:ext>
            </a:extLst>
          </p:cNvPr>
          <p:cNvSpPr/>
          <p:nvPr/>
        </p:nvSpPr>
        <p:spPr>
          <a:xfrm>
            <a:off x="0" y="1"/>
            <a:ext cx="472273" cy="8656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0545FDF-4E05-F151-5A6C-EE7906CE97A0}"/>
              </a:ext>
            </a:extLst>
          </p:cNvPr>
          <p:cNvSpPr/>
          <p:nvPr/>
        </p:nvSpPr>
        <p:spPr>
          <a:xfrm>
            <a:off x="-1" y="865619"/>
            <a:ext cx="472273" cy="99478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2AD5C3D-3005-E022-6B1D-1FB84BADD5C1}"/>
              </a:ext>
            </a:extLst>
          </p:cNvPr>
          <p:cNvSpPr/>
          <p:nvPr/>
        </p:nvSpPr>
        <p:spPr>
          <a:xfrm>
            <a:off x="0" y="1860407"/>
            <a:ext cx="472273" cy="994787"/>
          </a:xfrm>
          <a:prstGeom prst="rect">
            <a:avLst/>
          </a:prstGeom>
          <a:solidFill>
            <a:srgbClr val="0ECFF6"/>
          </a:solidFill>
          <a:ln>
            <a:solidFill>
              <a:srgbClr val="0ECF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61BE535-CA93-4940-3D38-9AD7D0E8B3B0}"/>
              </a:ext>
            </a:extLst>
          </p:cNvPr>
          <p:cNvSpPr/>
          <p:nvPr/>
        </p:nvSpPr>
        <p:spPr>
          <a:xfrm>
            <a:off x="0" y="2855195"/>
            <a:ext cx="472273" cy="994788"/>
          </a:xfrm>
          <a:prstGeom prst="rect">
            <a:avLst/>
          </a:prstGeom>
          <a:solidFill>
            <a:srgbClr val="00EE1C"/>
          </a:solidFill>
          <a:ln>
            <a:solidFill>
              <a:srgbClr val="00EE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BC6C3D0-47F3-43FF-F65C-A3E998A5D9AC}"/>
              </a:ext>
            </a:extLst>
          </p:cNvPr>
          <p:cNvSpPr/>
          <p:nvPr/>
        </p:nvSpPr>
        <p:spPr>
          <a:xfrm>
            <a:off x="0" y="3849984"/>
            <a:ext cx="472273" cy="994788"/>
          </a:xfrm>
          <a:prstGeom prst="rect">
            <a:avLst/>
          </a:prstGeom>
          <a:solidFill>
            <a:srgbClr val="E51FB6"/>
          </a:solidFill>
          <a:ln>
            <a:solidFill>
              <a:srgbClr val="E51F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3DEBCA3-05DB-E8EF-293C-2BAB52EAEA1F}"/>
              </a:ext>
            </a:extLst>
          </p:cNvPr>
          <p:cNvSpPr/>
          <p:nvPr/>
        </p:nvSpPr>
        <p:spPr>
          <a:xfrm>
            <a:off x="-2" y="4844772"/>
            <a:ext cx="472273" cy="99478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E470FC9-C3FE-F3A6-14C2-FBB62EA6CCB6}"/>
              </a:ext>
            </a:extLst>
          </p:cNvPr>
          <p:cNvSpPr/>
          <p:nvPr/>
        </p:nvSpPr>
        <p:spPr>
          <a:xfrm>
            <a:off x="0" y="5839559"/>
            <a:ext cx="472271" cy="101844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636D8F6-2478-2ED5-4B96-B36ABBB4415F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026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6D8B42BD-0370-7D7B-8953-1E3A08E03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A296580-0FCC-29D0-1FA2-42C4CA2E5D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421" y="2471652"/>
            <a:ext cx="4348626" cy="4234855"/>
          </a:xfrm>
          <a:prstGeom prst="rect">
            <a:avLst/>
          </a:prstGeom>
        </p:spPr>
      </p:pic>
      <p:sp>
        <p:nvSpPr>
          <p:cNvPr id="11" name="Rectangle 13">
            <a:extLst>
              <a:ext uri="{FF2B5EF4-FFF2-40B4-BE49-F238E27FC236}">
                <a16:creationId xmlns:a16="http://schemas.microsoft.com/office/drawing/2014/main" id="{435009DE-BEC2-7BD8-8C35-8FD23E202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  <p:pic>
        <p:nvPicPr>
          <p:cNvPr id="1032" name="Picture 8" descr="Automação - ícones de o negócio grátis">
            <a:extLst>
              <a:ext uri="{FF2B5EF4-FFF2-40B4-BE49-F238E27FC236}">
                <a16:creationId xmlns:a16="http://schemas.microsoft.com/office/drawing/2014/main" id="{ABC02F2A-C591-D39E-5BF6-FE3BADBD6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302" y="2335642"/>
            <a:ext cx="4013136" cy="40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555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D1E7A-4D17-6B10-8D1C-B41204E04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FFC5BC7D-BC36-7E43-3358-F46382DA57E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b="1" dirty="0">
                <a:solidFill>
                  <a:schemeClr val="bg1"/>
                </a:solidFill>
              </a:rPr>
              <a:t>Emissão de certificados</a:t>
            </a:r>
            <a:r>
              <a:rPr lang="pt-PT" dirty="0">
                <a:solidFill>
                  <a:schemeClr val="bg1"/>
                </a:solidFill>
              </a:rPr>
              <a:t> de curso é um trabalho </a:t>
            </a:r>
            <a:r>
              <a:rPr lang="pt-PT" b="1" dirty="0">
                <a:solidFill>
                  <a:schemeClr val="bg1"/>
                </a:solidFill>
              </a:rPr>
              <a:t>dispendioso</a:t>
            </a:r>
            <a:r>
              <a:rPr lang="pt-PT" dirty="0">
                <a:solidFill>
                  <a:schemeClr val="bg1"/>
                </a:solidFill>
              </a:rPr>
              <a:t> pois têm que ser </a:t>
            </a:r>
            <a:r>
              <a:rPr lang="pt-PT" b="1" dirty="0">
                <a:solidFill>
                  <a:schemeClr val="bg1"/>
                </a:solidFill>
              </a:rPr>
              <a:t>feito</a:t>
            </a:r>
            <a:r>
              <a:rPr lang="pt-PT" dirty="0">
                <a:solidFill>
                  <a:schemeClr val="bg1"/>
                </a:solidFill>
              </a:rPr>
              <a:t> </a:t>
            </a:r>
            <a:r>
              <a:rPr lang="pt-PT" b="1" dirty="0">
                <a:solidFill>
                  <a:schemeClr val="bg1"/>
                </a:solidFill>
              </a:rPr>
              <a:t>manualmente</a:t>
            </a:r>
            <a:r>
              <a:rPr lang="pt-PT" dirty="0">
                <a:solidFill>
                  <a:schemeClr val="bg1"/>
                </a:solidFill>
              </a:rPr>
              <a:t>, para cada </a:t>
            </a:r>
            <a:r>
              <a:rPr lang="pt-PT" b="1" dirty="0">
                <a:solidFill>
                  <a:schemeClr val="bg1"/>
                </a:solidFill>
              </a:rPr>
              <a:t>aluno individual</a:t>
            </a:r>
            <a:r>
              <a:rPr lang="pt-PT" dirty="0">
                <a:solidFill>
                  <a:schemeClr val="bg1"/>
                </a:solidFill>
              </a:rPr>
              <a:t>.</a:t>
            </a:r>
          </a:p>
          <a:p>
            <a:endParaRPr lang="pt-PT" dirty="0">
              <a:solidFill>
                <a:schemeClr val="bg1"/>
              </a:solidFill>
            </a:endParaRPr>
          </a:p>
          <a:p>
            <a:r>
              <a:rPr lang="pt-PT" dirty="0">
                <a:solidFill>
                  <a:schemeClr val="bg1"/>
                </a:solidFill>
              </a:rPr>
              <a:t>O nosso objetivo é </a:t>
            </a:r>
            <a:r>
              <a:rPr lang="pt-PT" b="1" dirty="0">
                <a:solidFill>
                  <a:schemeClr val="bg1"/>
                </a:solidFill>
              </a:rPr>
              <a:t>automatizar</a:t>
            </a:r>
            <a:r>
              <a:rPr lang="pt-PT" dirty="0">
                <a:solidFill>
                  <a:schemeClr val="bg1"/>
                </a:solidFill>
              </a:rPr>
              <a:t> este processo, tornando-o </a:t>
            </a:r>
            <a:r>
              <a:rPr lang="pt-PT" b="1" dirty="0">
                <a:solidFill>
                  <a:schemeClr val="bg1"/>
                </a:solidFill>
              </a:rPr>
              <a:t>mais imediato </a:t>
            </a:r>
            <a:r>
              <a:rPr lang="pt-PT" dirty="0">
                <a:solidFill>
                  <a:schemeClr val="bg1"/>
                </a:solidFill>
              </a:rPr>
              <a:t>e </a:t>
            </a:r>
            <a:r>
              <a:rPr lang="pt-PT" b="1" dirty="0">
                <a:solidFill>
                  <a:schemeClr val="bg1"/>
                </a:solidFill>
              </a:rPr>
              <a:t>menos trabalhoso</a:t>
            </a:r>
            <a:r>
              <a:rPr lang="pt-PT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A50DEAEE-1FA7-1F7C-754A-D9D5310D3AA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>
                <a:solidFill>
                  <a:schemeClr val="bg1"/>
                </a:solidFill>
              </a:rPr>
              <a:t>Motivação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36DCE12-63BD-3887-B54B-CA7449CF1A77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5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7B3D15F1-3706-1D0F-384A-01BCAB05B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Posição do Número do Diapositivo 4">
            <a:extLst>
              <a:ext uri="{FF2B5EF4-FFF2-40B4-BE49-F238E27FC236}">
                <a16:creationId xmlns:a16="http://schemas.microsoft.com/office/drawing/2014/main" id="{FA889B13-90D4-857D-2141-D9813141F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256311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2</a:t>
            </a:fld>
            <a:endParaRPr lang="pt-PT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912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AFE55-F618-0A32-B1E7-2F2244291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D534C834-9C6A-8404-6FB1-B3735DEB412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1587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b="1" dirty="0">
                <a:solidFill>
                  <a:schemeClr val="bg1"/>
                </a:solidFill>
              </a:rPr>
              <a:t>Clientes</a:t>
            </a:r>
          </a:p>
          <a:p>
            <a:pPr lvl="1"/>
            <a:r>
              <a:rPr lang="pt-PT" dirty="0">
                <a:solidFill>
                  <a:schemeClr val="bg1"/>
                </a:solidFill>
              </a:rPr>
              <a:t>Instituições de ensino ou centros de formação</a:t>
            </a:r>
          </a:p>
          <a:p>
            <a:pPr marL="457200" lvl="1" indent="0">
              <a:buNone/>
            </a:pPr>
            <a:endParaRPr lang="pt-PT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pt-PT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pt-PT" dirty="0">
                <a:solidFill>
                  <a:schemeClr val="bg1"/>
                </a:solidFill>
              </a:rPr>
              <a:t>		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AA2966D1-F258-9F27-84C7-615365E3BA6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>
                <a:solidFill>
                  <a:schemeClr val="bg1"/>
                </a:solidFill>
              </a:rPr>
              <a:t>Caracterização Geral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824B30-B16F-4EC1-99D7-3DA5F4BD9816}"/>
              </a:ext>
            </a:extLst>
          </p:cNvPr>
          <p:cNvSpPr txBox="1"/>
          <p:nvPr/>
        </p:nvSpPr>
        <p:spPr>
          <a:xfrm>
            <a:off x="838200" y="3119297"/>
            <a:ext cx="812911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800" b="1" dirty="0">
                <a:solidFill>
                  <a:schemeClr val="bg1"/>
                </a:solidFill>
              </a:rPr>
              <a:t>Síntese Objetivos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</a:rPr>
              <a:t>Gerar certificados de forma automática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</a:rPr>
              <a:t>Disponibilizar os certificados via e-mail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</a:rPr>
              <a:t>Fornecer uma aplicação acessível ao pessoal administrativo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400" dirty="0">
                <a:solidFill>
                  <a:schemeClr val="bg1"/>
                </a:solidFill>
              </a:rPr>
              <a:t>Permitir a criação e edição de </a:t>
            </a:r>
            <a:r>
              <a:rPr lang="pt-PT" sz="2400" dirty="0" err="1">
                <a:solidFill>
                  <a:schemeClr val="bg1"/>
                </a:solidFill>
              </a:rPr>
              <a:t>templates</a:t>
            </a:r>
            <a:r>
              <a:rPr lang="pt-PT" sz="2400" dirty="0">
                <a:solidFill>
                  <a:schemeClr val="bg1"/>
                </a:solidFill>
              </a:rPr>
              <a:t> para os certificados</a:t>
            </a:r>
          </a:p>
          <a:p>
            <a:pPr lvl="1"/>
            <a:endParaRPr lang="pt-PT" sz="2400" dirty="0">
              <a:solidFill>
                <a:schemeClr val="bg1"/>
              </a:solidFill>
            </a:endParaRPr>
          </a:p>
          <a:p>
            <a:pPr lvl="1"/>
            <a:endParaRPr lang="pt-PT" sz="2400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763A660-B300-C981-F8B4-1074BA236438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5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CFB54A6C-B001-5C42-6DAC-A7908861A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Posição do Número do Diapositivo 4">
            <a:extLst>
              <a:ext uri="{FF2B5EF4-FFF2-40B4-BE49-F238E27FC236}">
                <a16:creationId xmlns:a16="http://schemas.microsoft.com/office/drawing/2014/main" id="{B39483EE-F5EA-8E48-E690-B23F25A9E824}"/>
              </a:ext>
            </a:extLst>
          </p:cNvPr>
          <p:cNvSpPr txBox="1">
            <a:spLocks/>
          </p:cNvSpPr>
          <p:nvPr/>
        </p:nvSpPr>
        <p:spPr>
          <a:xfrm>
            <a:off x="567554" y="6341382"/>
            <a:ext cx="2563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pPr/>
              <a:t>3</a:t>
            </a:fld>
            <a:endParaRPr lang="pt-PT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05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C2B93-E27F-A0FC-5115-4139A9FFA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BBAC3EDA-67A8-64E0-E75C-377E21A6942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>
                <a:solidFill>
                  <a:schemeClr val="bg1"/>
                </a:solidFill>
              </a:rPr>
              <a:t>Trabalho Relacionado</a:t>
            </a:r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5DF0FE-541B-91FF-C13F-266A5227219B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5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21352AAF-A9C8-7957-1BA1-5F0E130E6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Posição do Número do Diapositivo 4">
            <a:extLst>
              <a:ext uri="{FF2B5EF4-FFF2-40B4-BE49-F238E27FC236}">
                <a16:creationId xmlns:a16="http://schemas.microsoft.com/office/drawing/2014/main" id="{CBE3A323-2EA5-5390-4289-1C037CE02B0D}"/>
              </a:ext>
            </a:extLst>
          </p:cNvPr>
          <p:cNvSpPr txBox="1">
            <a:spLocks/>
          </p:cNvSpPr>
          <p:nvPr/>
        </p:nvSpPr>
        <p:spPr>
          <a:xfrm>
            <a:off x="567554" y="6341382"/>
            <a:ext cx="2563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P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pPr/>
              <a:t>4</a:t>
            </a:fld>
            <a:endParaRPr lang="pt-PT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F6022BE-18CD-A987-8427-58C80E6DA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652964"/>
              </p:ext>
            </p:extLst>
          </p:nvPr>
        </p:nvGraphicFramePr>
        <p:xfrm>
          <a:off x="2271154" y="1020947"/>
          <a:ext cx="7652977" cy="482351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506397">
                  <a:extLst>
                    <a:ext uri="{9D8B030D-6E8A-4147-A177-3AD203B41FA5}">
                      <a16:colId xmlns:a16="http://schemas.microsoft.com/office/drawing/2014/main" val="1923169646"/>
                    </a:ext>
                  </a:extLst>
                </a:gridCol>
                <a:gridCol w="2573290">
                  <a:extLst>
                    <a:ext uri="{9D8B030D-6E8A-4147-A177-3AD203B41FA5}">
                      <a16:colId xmlns:a16="http://schemas.microsoft.com/office/drawing/2014/main" val="4166079880"/>
                    </a:ext>
                  </a:extLst>
                </a:gridCol>
                <a:gridCol w="2573290">
                  <a:extLst>
                    <a:ext uri="{9D8B030D-6E8A-4147-A177-3AD203B41FA5}">
                      <a16:colId xmlns:a16="http://schemas.microsoft.com/office/drawing/2014/main" val="3646486880"/>
                    </a:ext>
                  </a:extLst>
                </a:gridCol>
              </a:tblGrid>
              <a:tr h="1132446"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Funcionalidade</a:t>
                      </a:r>
                      <a:endParaRPr lang="pt-PT" dirty="0"/>
                    </a:p>
                  </a:txBody>
                  <a:tcPr anchor="ctr">
                    <a:solidFill>
                      <a:srgbClr val="60AB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Aplicações Existentes (Accredible/Certifier)</a:t>
                      </a:r>
                      <a:endParaRPr lang="pt-PT" dirty="0"/>
                    </a:p>
                  </a:txBody>
                  <a:tcPr anchor="ctr">
                    <a:solidFill>
                      <a:srgbClr val="60AB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O nosso Projeto</a:t>
                      </a:r>
                    </a:p>
                  </a:txBody>
                  <a:tcPr anchor="ctr">
                    <a:solidFill>
                      <a:srgbClr val="60A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92180"/>
                  </a:ext>
                </a:extLst>
              </a:tr>
              <a:tr h="871112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/>
                        <a:t>Modelo de Custo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Subscrição Mensal/Custo por certificado</a:t>
                      </a:r>
                      <a:endParaRPr lang="pt-P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Self-Hosted</a:t>
                      </a:r>
                      <a:endParaRPr lang="pt-P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890526"/>
                  </a:ext>
                </a:extLst>
              </a:tr>
              <a:tr h="696889"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Privacidade de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Dados em servidores de Terceiros</a:t>
                      </a:r>
                      <a:endParaRPr lang="pt-P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Base de dados Local</a:t>
                      </a:r>
                      <a:endParaRPr lang="pt-P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452784"/>
                  </a:ext>
                </a:extLst>
              </a:tr>
              <a:tr h="1132446"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Customização de Template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Editores Drag &amp; Drop </a:t>
                      </a:r>
                      <a:r>
                        <a:rPr lang="pt-PT" dirty="0"/>
                        <a:t>limitados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Controlo Total (Permite edição dos ficheiros HTML/CSS do template)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529261"/>
                  </a:ext>
                </a:extLst>
              </a:tr>
              <a:tr h="94733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Integração Institucional</a:t>
                      </a:r>
                      <a:endParaRPr lang="pt-P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Geral através de APIs Genéricas</a:t>
                      </a:r>
                      <a:endParaRPr lang="pt-P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dirty="0"/>
                        <a:t>Integrado no sistema da </a:t>
                      </a:r>
                      <a:r>
                        <a:rPr lang="pt-PT"/>
                        <a:t>instituição como WebApp</a:t>
                      </a:r>
                      <a:endParaRPr lang="pt-P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502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616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415B12-05A6-00E3-966B-B4ACC69B7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E3FAB246-26B4-65FD-CC59-6D44BD047D9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1C938072-1D36-D321-FFF8-EE571FF6E4E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5A055F3-D6A7-1EA7-B4BB-8C86F755375D}"/>
              </a:ext>
            </a:extLst>
          </p:cNvPr>
          <p:cNvSpPr txBox="1">
            <a:spLocks/>
          </p:cNvSpPr>
          <p:nvPr/>
        </p:nvSpPr>
        <p:spPr>
          <a:xfrm>
            <a:off x="3363738" y="365125"/>
            <a:ext cx="5464521" cy="6865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>
                <a:solidFill>
                  <a:schemeClr val="bg1"/>
                </a:solidFill>
              </a:rPr>
              <a:t>Requisitos do Projeto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9E705E-1C1A-575A-70D0-6B0AFE9AD729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6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B0A1BDC8-62A3-3D7C-16FB-7EC54BBD6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B602C7B7-857F-C344-396E-2ECF0795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256311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5</a:t>
            </a:fld>
            <a:endParaRPr lang="pt-PT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B509E6A-88FD-8400-6AEE-D2401210E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113033"/>
              </p:ext>
            </p:extLst>
          </p:nvPr>
        </p:nvGraphicFramePr>
        <p:xfrm>
          <a:off x="1338833" y="1160997"/>
          <a:ext cx="9514334" cy="4796827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768514">
                  <a:extLst>
                    <a:ext uri="{9D8B030D-6E8A-4147-A177-3AD203B41FA5}">
                      <a16:colId xmlns:a16="http://schemas.microsoft.com/office/drawing/2014/main" val="1284901245"/>
                    </a:ext>
                  </a:extLst>
                </a:gridCol>
                <a:gridCol w="2865908">
                  <a:extLst>
                    <a:ext uri="{9D8B030D-6E8A-4147-A177-3AD203B41FA5}">
                      <a16:colId xmlns:a16="http://schemas.microsoft.com/office/drawing/2014/main" val="3760013960"/>
                    </a:ext>
                  </a:extLst>
                </a:gridCol>
                <a:gridCol w="864574">
                  <a:extLst>
                    <a:ext uri="{9D8B030D-6E8A-4147-A177-3AD203B41FA5}">
                      <a16:colId xmlns:a16="http://schemas.microsoft.com/office/drawing/2014/main" val="1942344926"/>
                    </a:ext>
                  </a:extLst>
                </a:gridCol>
                <a:gridCol w="1573048">
                  <a:extLst>
                    <a:ext uri="{9D8B030D-6E8A-4147-A177-3AD203B41FA5}">
                      <a16:colId xmlns:a16="http://schemas.microsoft.com/office/drawing/2014/main" val="3749758972"/>
                    </a:ext>
                  </a:extLst>
                </a:gridCol>
                <a:gridCol w="2417608">
                  <a:extLst>
                    <a:ext uri="{9D8B030D-6E8A-4147-A177-3AD203B41FA5}">
                      <a16:colId xmlns:a16="http://schemas.microsoft.com/office/drawing/2014/main" val="439521070"/>
                    </a:ext>
                  </a:extLst>
                </a:gridCol>
                <a:gridCol w="1024682">
                  <a:extLst>
                    <a:ext uri="{9D8B030D-6E8A-4147-A177-3AD203B41FA5}">
                      <a16:colId xmlns:a16="http://schemas.microsoft.com/office/drawing/2014/main" val="1432940459"/>
                    </a:ext>
                  </a:extLst>
                </a:gridCol>
              </a:tblGrid>
              <a:tr h="1451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Ref</a:t>
                      </a:r>
                      <a:endParaRPr lang="pt-P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Função</a:t>
                      </a:r>
                      <a:endParaRPr lang="pt-P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Categoria</a:t>
                      </a:r>
                      <a:endParaRPr lang="pt-P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Atributo</a:t>
                      </a:r>
                      <a:endParaRPr lang="pt-P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Detalhe</a:t>
                      </a:r>
                      <a:endParaRPr lang="pt-P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Categoria</a:t>
                      </a:r>
                      <a:endParaRPr lang="pt-P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54895873"/>
                  </a:ext>
                </a:extLst>
              </a:tr>
              <a:tr h="333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 dirty="0">
                          <a:effectLst/>
                        </a:rPr>
                        <a:t>Autenticar o utilizador no acesso ao sistema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Visivel 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Garantir a autenticação correta de cada utilizador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3869923039"/>
                  </a:ext>
                </a:extLst>
              </a:tr>
              <a:tr h="3289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Permitir o administrador dar roles aos utilizadores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Visivel 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Garantir as permissões corretas em cada role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1610563767"/>
                  </a:ext>
                </a:extLst>
              </a:tr>
              <a:tr h="431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3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Permitir os administradores e funcionários selecionar cursos para gerar certificados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Visivel 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Garantir a possibilidade de selecionar todos os cursos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3288553154"/>
                  </a:ext>
                </a:extLst>
              </a:tr>
              <a:tr h="4314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4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Consultar alunos aprovados num curso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Invisivel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Garantir a obtenção de todos os alunos que concluiram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3267601744"/>
                  </a:ext>
                </a:extLst>
              </a:tr>
              <a:tr h="3775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5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Obter informação dos alunos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Visivel 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Garantir a privacidade da informação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2496819430"/>
                  </a:ext>
                </a:extLst>
              </a:tr>
              <a:tr h="3505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6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 dirty="0">
                          <a:effectLst/>
                        </a:rPr>
                        <a:t>Preencher o certificado com a informação do aluno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Invisivel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Garantir a autenticidade da informação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3488119162"/>
                  </a:ext>
                </a:extLst>
              </a:tr>
              <a:tr h="4148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7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Processar um template para gerar o certificado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Invisivel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Concluir geração de todos os certificados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1755849236"/>
                  </a:ext>
                </a:extLst>
              </a:tr>
              <a:tr h="3775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8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Processar um template para gerar o certificado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Invisivel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Tempo de Resposta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Concluir geração 1000 certificados num prazo de 24 horas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Desejável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482362205"/>
                  </a:ext>
                </a:extLst>
              </a:tr>
              <a:tr h="4417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9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Gerar o certificado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Invisivel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Plataforma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Gerar em o certificado em formato PDF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4063439305"/>
                  </a:ext>
                </a:extLst>
              </a:tr>
              <a:tr h="4148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10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Assinar digitalmente o certificado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Visivel 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Garantir a autenticidade da assinatura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Desejável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1696344344"/>
                  </a:ext>
                </a:extLst>
              </a:tr>
              <a:tr h="4148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11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Notificar o aluno acerca da disponibilidade do certificado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Visivel 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Tolerância a falhas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Notificar o aluno apenas após a geração do certificado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Obrigatório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227722038"/>
                  </a:ext>
                </a:extLst>
              </a:tr>
              <a:tr h="333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12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Disponibilizar o documento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Visivel 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Plataforma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>
                          <a:effectLst/>
                        </a:rPr>
                        <a:t>Disponibilizar o certificado no email enviado</a:t>
                      </a:r>
                      <a:endParaRPr lang="pt-P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700" u="none" strike="noStrike" dirty="0">
                          <a:effectLst/>
                        </a:rPr>
                        <a:t>Obrigatório</a:t>
                      </a:r>
                      <a:endParaRPr lang="pt-PT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115" marR="6115" marT="6115" marB="0" anchor="ctr"/>
                </a:tc>
                <a:extLst>
                  <a:ext uri="{0D108BD9-81ED-4DB2-BD59-A6C34878D82A}">
                    <a16:rowId xmlns:a16="http://schemas.microsoft.com/office/drawing/2014/main" val="3599689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309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E3E7C-A20D-F8BB-742D-038FF5FD1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07097AC6-4523-E09B-C4AC-23528FF0EAA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FAB5A42-E3A2-502F-46BD-E858987135E6}"/>
              </a:ext>
            </a:extLst>
          </p:cNvPr>
          <p:cNvSpPr txBox="1">
            <a:spLocks/>
          </p:cNvSpPr>
          <p:nvPr/>
        </p:nvSpPr>
        <p:spPr>
          <a:xfrm>
            <a:off x="2402819" y="14965"/>
            <a:ext cx="6781046" cy="7093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>
                <a:solidFill>
                  <a:schemeClr val="bg1"/>
                </a:solidFill>
              </a:rPr>
              <a:t>Tecnologias utilizadas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9C76DC9-820D-E5DD-F264-E9B68941F923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2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3DA9D05F-DCD7-D81C-AE72-AFDA6A8D0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B69E9101-EDF5-13D6-185F-7C9C0A9F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423046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6</a:t>
            </a:fld>
            <a:endParaRPr lang="pt-PT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09FCF3C-6381-C4B7-75D8-D885A14CC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242054"/>
              </p:ext>
            </p:extLst>
          </p:nvPr>
        </p:nvGraphicFramePr>
        <p:xfrm>
          <a:off x="980539" y="841993"/>
          <a:ext cx="4812424" cy="518785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74525">
                  <a:extLst>
                    <a:ext uri="{9D8B030D-6E8A-4147-A177-3AD203B41FA5}">
                      <a16:colId xmlns:a16="http://schemas.microsoft.com/office/drawing/2014/main" val="1923169646"/>
                    </a:ext>
                  </a:extLst>
                </a:gridCol>
                <a:gridCol w="2437899">
                  <a:extLst>
                    <a:ext uri="{9D8B030D-6E8A-4147-A177-3AD203B41FA5}">
                      <a16:colId xmlns:a16="http://schemas.microsoft.com/office/drawing/2014/main" val="4166079880"/>
                    </a:ext>
                  </a:extLst>
                </a:gridCol>
              </a:tblGrid>
              <a:tr h="402121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Tecnologia</a:t>
                      </a:r>
                    </a:p>
                  </a:txBody>
                  <a:tcPr anchor="ctr">
                    <a:solidFill>
                      <a:srgbClr val="60AB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Utilização</a:t>
                      </a:r>
                    </a:p>
                  </a:txBody>
                  <a:tcPr anchor="ctr">
                    <a:solidFill>
                      <a:srgbClr val="60AB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92180"/>
                  </a:ext>
                </a:extLst>
              </a:tr>
              <a:tr h="780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/>
                        <a:t>Node.js + </a:t>
                      </a:r>
                      <a:r>
                        <a:rPr lang="pt-PT" sz="1600"/>
                        <a:t>Typescript</a:t>
                      </a:r>
                      <a:endParaRPr lang="pt-PT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Desenvolvimento do </a:t>
                      </a:r>
                      <a:r>
                        <a:rPr lang="pt-PT" sz="1400"/>
                        <a:t>backend</a:t>
                      </a:r>
                      <a:r>
                        <a:rPr lang="pt-PT" sz="1400" dirty="0"/>
                        <a:t> e lógica da aplicação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890526"/>
                  </a:ext>
                </a:extLst>
              </a:tr>
              <a:tr h="565727"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Handlebars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/>
                        <a:t>Renderização</a:t>
                      </a:r>
                      <a:r>
                        <a:rPr lang="pt-PT" sz="1400" dirty="0"/>
                        <a:t> dinâmica de </a:t>
                      </a:r>
                      <a:r>
                        <a:rPr lang="pt-PT" sz="1400"/>
                        <a:t>templates</a:t>
                      </a:r>
                      <a:endParaRPr lang="pt-PT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5623637"/>
                  </a:ext>
                </a:extLst>
              </a:tr>
              <a:tr h="555873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HTML + 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Estrutura e estilização visual dos certificados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452784"/>
                  </a:ext>
                </a:extLst>
              </a:tr>
              <a:tr h="923636"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Pupeteer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dirty="0"/>
                        <a:t>Conversão dos </a:t>
                      </a:r>
                      <a:r>
                        <a:rPr lang="pt-PT" sz="1400"/>
                        <a:t>templates</a:t>
                      </a:r>
                      <a:r>
                        <a:rPr lang="pt-PT" sz="1400" dirty="0"/>
                        <a:t> HTML em documentos PDF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529261"/>
                  </a:ext>
                </a:extLst>
              </a:tr>
              <a:tr h="6234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600"/>
                        <a:t>Casbin + RBAC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400"/>
                        <a:t>Gestão de Controlo de acessos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502622"/>
                  </a:ext>
                </a:extLst>
              </a:tr>
              <a:tr h="55587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600"/>
                        <a:t>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400" dirty="0"/>
                        <a:t>Base de Dados com </a:t>
                      </a:r>
                      <a:r>
                        <a:rPr lang="pt-PT" sz="1400"/>
                        <a:t>informação de acesso</a:t>
                      </a:r>
                      <a:endParaRPr lang="pt-PT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542412"/>
                  </a:ext>
                </a:extLst>
              </a:tr>
              <a:tr h="78058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600"/>
                        <a:t>Nodemailer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sz="1400" dirty="0"/>
                        <a:t>Envio de emails através de um servidor </a:t>
                      </a:r>
                      <a:r>
                        <a:rPr lang="pt-PT" sz="1400"/>
                        <a:t>de email existente</a:t>
                      </a:r>
                      <a:endParaRPr lang="pt-PT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9387994"/>
                  </a:ext>
                </a:extLst>
              </a:tr>
            </a:tbl>
          </a:graphicData>
        </a:graphic>
      </p:graphicFrame>
      <p:sp>
        <p:nvSpPr>
          <p:cNvPr id="20" name="CaixaDeTexto 19">
            <a:extLst>
              <a:ext uri="{FF2B5EF4-FFF2-40B4-BE49-F238E27FC236}">
                <a16:creationId xmlns:a16="http://schemas.microsoft.com/office/drawing/2014/main" id="{2934BDF0-304D-D1EF-AC4C-797B185B91E0}"/>
              </a:ext>
            </a:extLst>
          </p:cNvPr>
          <p:cNvSpPr txBox="1"/>
          <p:nvPr/>
        </p:nvSpPr>
        <p:spPr>
          <a:xfrm>
            <a:off x="5898078" y="1320100"/>
            <a:ext cx="4812423" cy="48936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 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Experiência prévia e adição de tipos de variáveis ao </a:t>
            </a:r>
            <a:r>
              <a:rPr kumimoji="0" lang="pt-PT" altLang="pt-PT" sz="1400" b="0" i="0" u="none" strike="noStrike" cap="none" normalizeH="0" baseline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Javascript</a:t>
            </a: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 para evitar erros </a:t>
            </a:r>
            <a:r>
              <a:rPr kumimoji="0" lang="pt-PT" altLang="pt-PT" sz="1400" b="0" i="0" u="none" strike="noStrike" cap="none" normalizeH="0" baseline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indesejados</a:t>
            </a:r>
            <a:endParaRPr lang="pt-PT" altLang="pt-PT" sz="1400" b="0" i="0" u="none" strike="noStrike" cap="none" normalizeH="0" baseline="0" dirty="0">
              <a:ln>
                <a:noFill/>
              </a:ln>
              <a:solidFill>
                <a:srgbClr val="CADCF6"/>
              </a:solidFill>
              <a:effectLst/>
              <a:latin typeface="Arial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/>
              <a:cs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 Facilidade de manutenção de variáveis</a:t>
            </a:r>
            <a:endParaRPr lang="pt-PT" altLang="pt-PT" sz="1400" b="0" i="0" u="none" strike="noStrike" cap="none" normalizeH="0" baseline="0" dirty="0">
              <a:ln>
                <a:noFill/>
              </a:ln>
              <a:solidFill>
                <a:srgbClr val="CADCF6"/>
              </a:solidFill>
              <a:effectLst/>
              <a:latin typeface="Arial"/>
              <a:cs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/>
              <a:cs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 Flexibilidade no aspeto do </a:t>
            </a:r>
            <a:r>
              <a:rPr kumimoji="0" lang="pt-PT" altLang="pt-PT" sz="1400" b="0" i="0" u="none" strike="noStrike" cap="none" normalizeH="0" baseline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template</a:t>
            </a:r>
            <a:endParaRPr lang="pt-PT" altLang="pt-PT" sz="1400" b="0" i="0" u="none" strike="noStrike" cap="none" normalizeH="0" baseline="0" dirty="0">
              <a:ln>
                <a:noFill/>
              </a:ln>
              <a:solidFill>
                <a:srgbClr val="CADCF6"/>
              </a:solidFill>
              <a:effectLst/>
              <a:latin typeface="Arial"/>
              <a:cs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/>
              <a:cs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pt-PT" altLang="pt-PT" sz="1400" b="0" i="0" u="none" strike="noStrike" cap="none" normalizeH="0" baseline="0" dirty="0">
                <a:ln>
                  <a:noFill/>
                </a:ln>
                <a:solidFill>
                  <a:srgbClr val="CADCF6"/>
                </a:solidFill>
                <a:effectLst/>
                <a:latin typeface="Arial"/>
                <a:cs typeface="Arial"/>
              </a:rPr>
              <a:t> Compatibilidade em geração de PDF com linguagens utilizadas</a:t>
            </a:r>
            <a:endParaRPr lang="pt-PT" altLang="pt-PT" sz="1400" b="0" i="0" u="none" strike="noStrike" cap="none" normalizeH="0" baseline="0" dirty="0">
              <a:ln>
                <a:noFill/>
              </a:ln>
              <a:solidFill>
                <a:srgbClr val="CADCF6"/>
              </a:solidFill>
              <a:effectLst/>
              <a:latin typeface="Arial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pt-PT" altLang="pt-PT" sz="1400">
                <a:solidFill>
                  <a:srgbClr val="CADCF6"/>
                </a:solidFill>
                <a:latin typeface="Arial"/>
                <a:cs typeface="Arial"/>
              </a:rPr>
              <a:t>Experiência prévia e compatibilidade com uma variedade grande de modelos de bases de dados</a:t>
            </a:r>
            <a:endParaRPr lang="pt-PT" altLang="pt-PT" sz="1400" dirty="0">
              <a:solidFill>
                <a:srgbClr val="CADCF6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pt-PT" altLang="pt-PT" sz="1400" dirty="0">
              <a:solidFill>
                <a:srgbClr val="CADCF6"/>
              </a:solidFill>
              <a:latin typeface="Arial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pt-PT" altLang="pt-PT" sz="1400">
                <a:solidFill>
                  <a:srgbClr val="CADCF6"/>
                </a:solidFill>
                <a:latin typeface="Arial"/>
                <a:cs typeface="Arial"/>
              </a:rPr>
              <a:t>Experiência prévia</a:t>
            </a: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pt-PT" altLang="pt-PT" sz="1400">
                <a:solidFill>
                  <a:srgbClr val="CADCF6"/>
                </a:solidFill>
                <a:latin typeface="Arial"/>
                <a:cs typeface="Arial"/>
              </a:rPr>
              <a:t>Facilidade e popularidade de uso, compatibilidade com qualquer servidor email</a:t>
            </a: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pt-PT" altLang="pt-PT" sz="1400" dirty="0">
              <a:solidFill>
                <a:srgbClr val="CADCF6"/>
              </a:solidFill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4279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2A16B-0A58-D8EA-6E63-908E9793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D2C0CEAC-7B09-F281-155D-5E3E694E497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36741004-2255-BB58-92E7-2ECD7C65468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D376FD49-7340-5E19-49FE-C6AB918018B9}"/>
              </a:ext>
            </a:extLst>
          </p:cNvPr>
          <p:cNvSpPr txBox="1">
            <a:spLocks/>
          </p:cNvSpPr>
          <p:nvPr/>
        </p:nvSpPr>
        <p:spPr>
          <a:xfrm>
            <a:off x="3399375" y="468992"/>
            <a:ext cx="4930366" cy="69183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>
                <a:solidFill>
                  <a:schemeClr val="bg1"/>
                </a:solidFill>
              </a:rPr>
              <a:t>Casos de utilização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91B54E2-CECB-FFC8-2E82-57BDFD2256D5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2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E2420965-8A9F-217A-9C6C-8F24EE245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B30DFA4F-9B5D-A7E5-FD7B-DDB9C896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423046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7</a:t>
            </a:fld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EAD1A92-95C0-ACD2-30C6-E329212F0C2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1" t="4146" r="5891" b="3902"/>
          <a:stretch>
            <a:fillRect/>
          </a:stretch>
        </p:blipFill>
        <p:spPr>
          <a:xfrm>
            <a:off x="2767091" y="1334942"/>
            <a:ext cx="6202968" cy="46205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3457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4385B8-1BE3-B386-36E0-1CA857C2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59972CE6-159C-5BA0-03C2-4A8E79FF839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39E5083-7C47-2231-0874-517087005CA1}"/>
              </a:ext>
            </a:extLst>
          </p:cNvPr>
          <p:cNvSpPr txBox="1">
            <a:spLocks/>
          </p:cNvSpPr>
          <p:nvPr/>
        </p:nvSpPr>
        <p:spPr>
          <a:xfrm>
            <a:off x="2698309" y="530789"/>
            <a:ext cx="6795380" cy="87519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>
                <a:solidFill>
                  <a:schemeClr val="bg1"/>
                </a:solidFill>
              </a:rPr>
              <a:t>Caso de utilização principal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177C8C-630E-5244-E5A9-6E7081029CA0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2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4357674F-FB3A-522F-8216-316C86A28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7DEF2176-9224-7E32-A4D1-2E659CEBC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423046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8</a:t>
            </a:fld>
            <a:endParaRPr lang="pt-PT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D5D30BDA-EAFA-5C8C-F18D-3B7D6778C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863197"/>
              </p:ext>
            </p:extLst>
          </p:nvPr>
        </p:nvGraphicFramePr>
        <p:xfrm>
          <a:off x="1653340" y="1857912"/>
          <a:ext cx="4704031" cy="31462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2220">
                  <a:extLst>
                    <a:ext uri="{9D8B030D-6E8A-4147-A177-3AD203B41FA5}">
                      <a16:colId xmlns:a16="http://schemas.microsoft.com/office/drawing/2014/main" val="1035186573"/>
                    </a:ext>
                  </a:extLst>
                </a:gridCol>
                <a:gridCol w="3131811">
                  <a:extLst>
                    <a:ext uri="{9D8B030D-6E8A-4147-A177-3AD203B41FA5}">
                      <a16:colId xmlns:a16="http://schemas.microsoft.com/office/drawing/2014/main" val="789076284"/>
                    </a:ext>
                  </a:extLst>
                </a:gridCol>
              </a:tblGrid>
              <a:tr h="8415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b="1" u="none" strike="noStrike" dirty="0">
                          <a:effectLst/>
                        </a:rPr>
                        <a:t>Nome: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u="none" strike="noStrike" dirty="0">
                          <a:effectLst/>
                        </a:rPr>
                        <a:t>Gerar e assinar digitalmente o certificado.</a:t>
                      </a:r>
                      <a:endParaRPr lang="pt-PT" sz="1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35171498"/>
                  </a:ext>
                </a:extLst>
              </a:tr>
              <a:tr h="10358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b="1" u="none" strike="noStrike" dirty="0">
                          <a:effectLst/>
                        </a:rPr>
                        <a:t>Resumo: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u="none" strike="noStrike" dirty="0">
                          <a:effectLst/>
                        </a:rPr>
                        <a:t>Permite gerar e assinar digitalmente um certificado de conclusão de curso.</a:t>
                      </a:r>
                      <a:endParaRPr lang="pt-PT" sz="1800" b="0" i="0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4280454"/>
                  </a:ext>
                </a:extLst>
              </a:tr>
              <a:tr h="6214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b="1" u="none" strike="noStrike" dirty="0">
                          <a:effectLst/>
                        </a:rPr>
                        <a:t>Referências: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u="none" strike="noStrike" dirty="0">
                          <a:effectLst/>
                        </a:rPr>
                        <a:t>R6, R7, R8, R9</a:t>
                      </a:r>
                      <a:endParaRPr lang="pt-PT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7392353"/>
                  </a:ext>
                </a:extLst>
              </a:tr>
              <a:tr h="6473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b="1" u="none" strike="noStrike" dirty="0">
                          <a:effectLst/>
                        </a:rPr>
                        <a:t>Ator: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PT" sz="1800" u="none" strike="noStrike" dirty="0">
                          <a:effectLst/>
                        </a:rPr>
                        <a:t>Funcionário / Administrador</a:t>
                      </a:r>
                      <a:endParaRPr lang="pt-PT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9298271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BA67564D-1022-9B07-0BBE-D843F963DCBD}"/>
              </a:ext>
            </a:extLst>
          </p:cNvPr>
          <p:cNvSpPr txBox="1"/>
          <p:nvPr/>
        </p:nvSpPr>
        <p:spPr>
          <a:xfrm>
            <a:off x="7246216" y="2620096"/>
            <a:ext cx="32924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dirty="0">
                <a:solidFill>
                  <a:schemeClr val="bg2"/>
                </a:solidFill>
              </a:rPr>
              <a:t>Este é o caso de utilização com mais relevância na lógica do sistema!</a:t>
            </a:r>
          </a:p>
        </p:txBody>
      </p:sp>
    </p:spTree>
    <p:extLst>
      <p:ext uri="{BB962C8B-B14F-4D97-AF65-F5344CB8AC3E}">
        <p14:creationId xmlns:p14="http://schemas.microsoft.com/office/powerpoint/2010/main" val="3249151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16570-ACC7-3D94-FCFB-19C36E2A4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00245E8A-6563-A31F-4920-D66F3794D4B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B2B5E58-7758-F935-07AC-17DF9A32F29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B09E4AD-F3BE-4CCD-5D80-9E26321808C8}"/>
              </a:ext>
            </a:extLst>
          </p:cNvPr>
          <p:cNvSpPr txBox="1">
            <a:spLocks/>
          </p:cNvSpPr>
          <p:nvPr/>
        </p:nvSpPr>
        <p:spPr>
          <a:xfrm>
            <a:off x="2763203" y="676852"/>
            <a:ext cx="6781046" cy="7093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>
                <a:solidFill>
                  <a:schemeClr val="bg1"/>
                </a:solidFill>
              </a:rPr>
              <a:t>Caso de utilização principal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F2E88C9-1D24-9A91-04D4-82390956B637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2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E45B079B-1E64-39A4-517B-20AA744B3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14E0DA14-B4AB-73CF-9AB5-B207054E0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423046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9</a:t>
            </a:fld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851AD86-8766-F467-660C-39FDEA5213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55" y="2135414"/>
            <a:ext cx="11167008" cy="26014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0748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7ED8D-8D80-4C8B-CA03-3CB738E5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5F4368DD-D5C1-9122-8709-034642CDB25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1AD3648D-F1E4-2633-5B2C-D44C0D26A84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DCFE4DB-537B-D909-85B4-C32110B042A0}"/>
              </a:ext>
            </a:extLst>
          </p:cNvPr>
          <p:cNvSpPr txBox="1">
            <a:spLocks/>
          </p:cNvSpPr>
          <p:nvPr/>
        </p:nvSpPr>
        <p:spPr>
          <a:xfrm>
            <a:off x="424937" y="326384"/>
            <a:ext cx="11342121" cy="7093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>
                <a:solidFill>
                  <a:schemeClr val="bg1"/>
                </a:solidFill>
              </a:rPr>
              <a:t>Diagrama de Sequência do Caso de Utilização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EE7DA46-EDB1-5B79-F992-647401A847DF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2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E2E03383-EF09-0F60-898B-984A6B74B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B2667840-9717-2F35-E973-33278CC60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423046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10</a:t>
            </a:fld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670F055-C9CC-0AE7-679D-261E518A5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204" y="1104181"/>
            <a:ext cx="5229588" cy="53314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0301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CFEB8-A2F5-AFFC-4E93-CAF3EE5C4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05B6056C-AD40-EC66-4867-C3A30EBB7DA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1F78255-0D10-B751-716B-5BF21E104C2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CEEB721-DB41-A350-AB80-F986B9F67B3B}"/>
              </a:ext>
            </a:extLst>
          </p:cNvPr>
          <p:cNvSpPr txBox="1">
            <a:spLocks/>
          </p:cNvSpPr>
          <p:nvPr/>
        </p:nvSpPr>
        <p:spPr>
          <a:xfrm>
            <a:off x="2223002" y="458521"/>
            <a:ext cx="7745994" cy="6322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>
                <a:solidFill>
                  <a:schemeClr val="bg1"/>
                </a:solidFill>
              </a:rPr>
              <a:t>Planeamento – Gráfico de </a:t>
            </a:r>
            <a:r>
              <a:rPr lang="pt-PT" b="1" dirty="0" err="1">
                <a:solidFill>
                  <a:schemeClr val="bg1"/>
                </a:solidFill>
              </a:rPr>
              <a:t>Gantt</a:t>
            </a:r>
            <a:endParaRPr lang="pt-PT" b="1" dirty="0">
              <a:solidFill>
                <a:schemeClr val="bg1"/>
              </a:solidFill>
            </a:endParaRPr>
          </a:p>
        </p:txBody>
      </p:sp>
      <p:graphicFrame>
        <p:nvGraphicFramePr>
          <p:cNvPr id="27" name="Marcador de Posição de Conteúdo 2">
            <a:extLst>
              <a:ext uri="{FF2B5EF4-FFF2-40B4-BE49-F238E27FC236}">
                <a16:creationId xmlns:a16="http://schemas.microsoft.com/office/drawing/2014/main" id="{7A5F0031-E483-F0D0-A10E-6199D17BFE70}"/>
              </a:ext>
            </a:extLst>
          </p:cNvPr>
          <p:cNvGraphicFramePr/>
          <p:nvPr/>
        </p:nvGraphicFramePr>
        <p:xfrm>
          <a:off x="990600" y="1857994"/>
          <a:ext cx="10515600" cy="3999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D533C103-2E1F-AF40-2F1E-F6EF49A0BB9E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2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4699192B-C2AB-56E0-6AAA-C6360155F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1A6B3644-E4AC-E637-22C6-66A731294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423046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11</a:t>
            </a:fld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D034CD-A1CD-B949-7305-189A325A1D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556" y="1184182"/>
            <a:ext cx="10605688" cy="47643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7624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5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3EC50-7B2F-5650-0E28-3B2A8B93E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AF52C0F3-E404-1F12-632D-C31CD3064A9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72F16DBC-6886-B757-71E7-E4E14DBB9F7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0245B1C-7570-2C20-A6AD-779764ACF8C9}"/>
              </a:ext>
            </a:extLst>
          </p:cNvPr>
          <p:cNvSpPr txBox="1">
            <a:spLocks/>
          </p:cNvSpPr>
          <p:nvPr/>
        </p:nvSpPr>
        <p:spPr>
          <a:xfrm>
            <a:off x="2223002" y="458521"/>
            <a:ext cx="7745994" cy="63226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>
                <a:solidFill>
                  <a:schemeClr val="bg1"/>
                </a:solidFill>
              </a:rPr>
              <a:t>Demonstração</a:t>
            </a:r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02D1A55-D72E-860B-456E-888EB25E377D}"/>
              </a:ext>
            </a:extLst>
          </p:cNvPr>
          <p:cNvSpPr txBox="1"/>
          <p:nvPr/>
        </p:nvSpPr>
        <p:spPr>
          <a:xfrm>
            <a:off x="3065155" y="6523945"/>
            <a:ext cx="6061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200" dirty="0">
                <a:solidFill>
                  <a:schemeClr val="bg1"/>
                </a:solidFill>
              </a:rPr>
              <a:t>Licenciatura em Engenharia Informática e Multimédia</a:t>
            </a:r>
          </a:p>
        </p:txBody>
      </p:sp>
      <p:pic>
        <p:nvPicPr>
          <p:cNvPr id="12" name="Picture 2" descr="Serviço de Comunicação e Imagem | Instituto Superior de Engenharia de Lisboa">
            <a:extLst>
              <a:ext uri="{FF2B5EF4-FFF2-40B4-BE49-F238E27FC236}">
                <a16:creationId xmlns:a16="http://schemas.microsoft.com/office/drawing/2014/main" id="{25CED8EC-8A96-A243-EC04-BBAB4EFDF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212"/>
                    </a14:imgEffect>
                    <a14:imgEffect>
                      <a14:saturation sat="1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38" y="5663355"/>
            <a:ext cx="3634141" cy="137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Posição do Número do Diapositivo 4">
            <a:extLst>
              <a:ext uri="{FF2B5EF4-FFF2-40B4-BE49-F238E27FC236}">
                <a16:creationId xmlns:a16="http://schemas.microsoft.com/office/drawing/2014/main" id="{462ACA0B-5B71-8C86-C79F-C6E40FF0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7554" y="6341382"/>
            <a:ext cx="423046" cy="365125"/>
          </a:xfrm>
        </p:spPr>
        <p:txBody>
          <a:bodyPr/>
          <a:lstStyle/>
          <a:p>
            <a:fld id="{AEFA9852-3563-417D-95EE-A70EE092CCC6}" type="slidenum">
              <a:rPr lang="pt-PT" sz="1600" b="1" smtClean="0">
                <a:solidFill>
                  <a:schemeClr val="bg1"/>
                </a:solidFill>
              </a:rPr>
              <a:t>12</a:t>
            </a:fld>
            <a:endParaRPr lang="pt-PT" b="1" dirty="0">
              <a:solidFill>
                <a:schemeClr val="bg1"/>
              </a:solidFill>
            </a:endParaRPr>
          </a:p>
        </p:txBody>
      </p:sp>
      <p:pic>
        <p:nvPicPr>
          <p:cNvPr id="6" name="demoGerarCertificados">
            <a:hlinkClick r:id="" action="ppaction://media"/>
            <a:extLst>
              <a:ext uri="{FF2B5EF4-FFF2-40B4-BE49-F238E27FC236}">
                <a16:creationId xmlns:a16="http://schemas.microsoft.com/office/drawing/2014/main" id="{7E7E4323-1C3D-ECA1-A520-69EF0FBAE15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591129" y="1086757"/>
            <a:ext cx="9000672" cy="484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83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612</Words>
  <Application>Microsoft Office PowerPoint</Application>
  <PresentationFormat>Widescreen</PresentationFormat>
  <Paragraphs>169</Paragraphs>
  <Slides>12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Tema do Office</vt:lpstr>
      <vt:lpstr>Sistema para geração automática de Certificados de Curso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Nilo Duarte</dc:creator>
  <cp:lastModifiedBy>Nilo Duarte</cp:lastModifiedBy>
  <cp:revision>234</cp:revision>
  <dcterms:created xsi:type="dcterms:W3CDTF">2026-03-10T15:00:44Z</dcterms:created>
  <dcterms:modified xsi:type="dcterms:W3CDTF">2026-05-16T15:22:01Z</dcterms:modified>
</cp:coreProperties>
</file>